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5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6F5C"/>
                </a:solidFill>
                <a:latin typeface="Calibri"/>
              </a:defRPr>
            </a:pPr>
            <a:r>
              <a:t>BIOHACKATHON JAPAN 2026  ·  MATSUYAMA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A2420"/>
                </a:solidFill>
                <a:latin typeface="Georgia"/>
              </a:defRPr>
            </a:pPr>
            <a:r>
              <a:t>Building an HLA Typer Using</a:t>
            </a:r>
            <a:br/>
            <a:r>
              <a:t>Asian-Specific Pangenomes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C5A53"/>
                </a:solidFill>
                <a:latin typeface="Calibri"/>
              </a:defRPr>
            </a:pPr>
            <a:r>
              <a:t>A whole-MHC pangenome graph across 754 Asian- and Arab-enriched haplotypes, and a first honest test of graph-based HLA genotyping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github.com/biohackathon-japan/BH26-asian-hla  ·  18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2420"/>
                </a:solidFill>
                <a:latin typeface="Georgia"/>
              </a:defRPr>
            </a:pPr>
            <a:r>
              <a:t>Why an Asian- and Arab-enriched HLA pangenome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HLA/MHC on chr6 is the most polymorphic part of the genome — drives transplant compatibility, drug hypersensitivity, autoimmune &amp; infectious-disease risk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Existing typers (HLA*LA, T1K, SpecHLA) are tuned on reference panels enriched for European/African/admixed-American ancestries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Middle Eastern and East/Southeast Asian populations are comparatively under-represented — despite strongly population-specific allele frequencies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Goal at BioHackathon Japan 2026: an HLA genotyping method built on our own Asian- and Arab-enriched pangenome graph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2420"/>
                </a:solidFill>
                <a:latin typeface="Georgia"/>
              </a:defRPr>
            </a:pPr>
            <a:r>
              <a:t>What we did this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1.  Extended our Asian/Arab HLA haplotype panel to 754 haplotypes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2.  Built a whole-MHC Minigraph-Cactus pangenome graph from it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3.  Tested a first, direct graph-based genotyping approach — align, call, phase, consensus, annotate — against T1K and real experimental truth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4.  Used what we learned to start building the actual typer: a PanGenie-based genotyper on graph bubbles</a:t>
            </a:r>
          </a:p>
          <a:p>
            <a:pPr lvl="1">
              <a:spcAft>
                <a:spcPts val="600"/>
              </a:spcAft>
              <a:defRPr sz="1600">
                <a:solidFill>
                  <a:srgbClr val="4C5A53"/>
                </a:solidFill>
                <a:latin typeface="Calibri"/>
              </a:defRPr>
            </a:pPr>
            <a:r>
              <a:t>–  Parts are complete and validated; the typer itself is in progress — reported honestly below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2420"/>
                </a:solidFill>
                <a:latin typeface="Georgia"/>
              </a:defRPr>
            </a:pPr>
            <a:r>
              <a:t>The 754-haplotype panel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57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Cohort / stratum</a:t>
                      </a:r>
                    </a:p>
                  </a:txBody>
                  <a:tcPr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Haplotypes</a:t>
                      </a:r>
                    </a:p>
                  </a:txBody>
                  <a:tcPr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Population</a:t>
                      </a:r>
                    </a:p>
                  </a:txBody>
                  <a:tcPr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F6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APR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Arab (UAE)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Assembly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HPRC r2 – Japanese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Japanese (1000G JPT)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Assembly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HPRC r2 – Jewish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Ashkenazi (HG002 only)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Assembly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HPRC r2 – East Asian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CHB/CHS/CDX/KHV, HG005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Assembly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HPRC r2 – Rest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360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Mixed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Assembly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JaSaPaGe – Saudi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Arab (Saudi)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Assembly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JaSaPaGe – Japanese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Japanese (1000G JPT)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Assembly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K-PanRef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Korean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Graph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CPC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Chinese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Graph path</a:t>
                      </a:r>
                    </a:p>
                  </a:txBody>
                  <a:tcPr>
                    <a:solidFill>
                      <a:srgbClr val="F2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05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GRCh38 / CHM13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A2420"/>
                          </a:solidFill>
                          <a:latin typeface="Calibri"/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2420"/>
                </a:solidFill>
                <a:latin typeface="Georgia"/>
              </a:defRPr>
            </a:pPr>
            <a:r>
              <a:t>New this round: K-PanRef &amp; CPC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144 new haplotypes from two projects whose raw assemblies aren't public yet:</a:t>
            </a:r>
          </a:p>
          <a:p>
            <a:pPr lvl="1">
              <a:spcAft>
                <a:spcPts val="600"/>
              </a:spcAft>
              <a:defRPr sz="1600">
                <a:solidFill>
                  <a:srgbClr val="4C5A53"/>
                </a:solidFill>
                <a:latin typeface="Calibri"/>
              </a:defRPr>
            </a:pPr>
            <a:r>
              <a:t>–  K-PanRef — Korean pangenome, 28 haplotypes / 14 individuals</a:t>
            </a:r>
          </a:p>
          <a:p>
            <a:pPr lvl="1">
              <a:spcAft>
                <a:spcPts val="600"/>
              </a:spcAft>
              <a:defRPr sz="1600">
                <a:solidFill>
                  <a:srgbClr val="4C5A53"/>
                </a:solidFill>
                <a:latin typeface="Calibri"/>
              </a:defRPr>
            </a:pPr>
            <a:r>
              <a:t>–  CPC — Chinese Pangenome Consortium Phase 1, 116 haplotypes / 58 individuals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MHC sequence pulled directly from their own published Minigraph-Cactus graphs (vg paths -F / odgi), not from raw assemblies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Kept only if minimap2 asm20 alignment ≥ 50 kb matching bases, MAPQ ≥ 20 vs GRCh38 MHC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Caveat: graph paths are Minigraph-Cactus–clipped — haplotype-private insertions can be shortened relative to the true assembly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742 haplotypes from 371 name-reconciled donors remain for donor-level analyses after de-duplication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2420"/>
                </a:solidFill>
                <a:latin typeface="Georgia"/>
              </a:defRPr>
            </a:pPr>
            <a:r>
              <a:t>Extraction, annotation, whole-MHC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Unchanged core CWL workflow (hla_pangenome.cwl) re-run on the enlarged panel</a:t>
            </a:r>
          </a:p>
          <a:p>
            <a:pPr lvl="1">
              <a:spcAft>
                <a:spcPts val="600"/>
              </a:spcAft>
              <a:defRPr sz="1600">
                <a:solidFill>
                  <a:srgbClr val="4C5A53"/>
                </a:solidFill>
                <a:latin typeface="Calibri"/>
              </a:defRPr>
            </a:pPr>
            <a:r>
              <a:t>–  pgr-tk pgr-query extracts GRCh38 chr6:28,510,120–33,480,577 ± 100 kb per haplotype</a:t>
            </a:r>
          </a:p>
          <a:p>
            <a:pPr lvl="1">
              <a:spcAft>
                <a:spcPts val="600"/>
              </a:spcAft>
              <a:defRPr sz="1600">
                <a:solidFill>
                  <a:srgbClr val="4C5A53"/>
                </a:solidFill>
                <a:latin typeface="Calibri"/>
              </a:defRPr>
            </a:pPr>
            <a:r>
              <a:t>–  Immuannot v3 (IPD-IMGT/HLA 3.55, IPD-KIR 2.13, RefSeq C4) calls gene structure + allele identity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Whole-MHC graph built with cactus-pangenome (Cactus 3.3.0, Minigraph-Cactus algorithm), referenced against GRCh38 + CHM13</a:t>
            </a:r>
          </a:p>
          <a:p>
            <a:pPr lvl="1">
              <a:spcAft>
                <a:spcPts val="600"/>
              </a:spcAft>
              <a:defRPr sz="1600">
                <a:solidFill>
                  <a:srgbClr val="4C5A53"/>
                </a:solidFill>
                <a:latin typeface="Calibri"/>
              </a:defRPr>
            </a:pPr>
            <a:r>
              <a:t>–  NIG supercomputer, 32 cores / 240 GB — built in 3 h 43 min</a:t>
            </a:r>
          </a:p>
          <a:p>
            <a:pPr lvl="1">
              <a:spcAft>
                <a:spcPts val="600"/>
              </a:spcAft>
              <a:defRPr sz="1600">
                <a:solidFill>
                  <a:srgbClr val="4C5A53"/>
                </a:solidFill>
                <a:latin typeface="Calibri"/>
              </a:defRPr>
            </a:pPr>
            <a:r>
              <a:t>–  417,896 nodes · 579,137 edges · 5.89 Mb of sequence · vg Giraffe indexes for short-read alignment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Graph validation: HG00096 MHC reads vs graph — 99.5% pairs aligned, 95.2% at MAPQ ≥ 20, in 26 s / 8 threads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2420"/>
                </a:solidFill>
                <a:latin typeface="Georgia"/>
              </a:defRPr>
            </a:pPr>
            <a:r>
              <a:t>Does graph genotyping beat a direct-read typer?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First test pipeline: vg giraffe align → vg call → WhatsHap read-backed phase → bcftools consensus (hap1/hap2 FASTA) → Immuannot re-annotation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i.e. use the graph to build a personal phased pseudo-assembly, then type it exactly like the main assembly panel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Compared against:</a:t>
            </a:r>
          </a:p>
          <a:p>
            <a:pPr lvl="1">
              <a:spcAft>
                <a:spcPts val="600"/>
              </a:spcAft>
              <a:defRPr sz="1600">
                <a:solidFill>
                  <a:srgbClr val="4C5A53"/>
                </a:solidFill>
                <a:latin typeface="Calibri"/>
              </a:defRPr>
            </a:pPr>
            <a:r>
              <a:t>–  T1K — types directly from raw reads, no graph or consensus step</a:t>
            </a:r>
          </a:p>
          <a:p>
            <a:pPr lvl="1">
              <a:spcAft>
                <a:spcPts val="600"/>
              </a:spcAft>
              <a:defRPr sz="1600">
                <a:solidFill>
                  <a:srgbClr val="4C5A53"/>
                </a:solidFill>
                <a:latin typeface="Calibri"/>
              </a:defRPr>
            </a:pPr>
            <a:r>
              <a:t>–  Real experimental truth — Gourraud et al. 2014 Sanger/SSO typing, 955 overlapping donors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Two independent T1K runs (noise check); re-annotated against both IPD-IMGT/HLA 3.55.0 and fresh 3.65.0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Concordance scored at 1-field and 2-field resolution, 9 classical genes (A/B/C/DRA/DRB1/DQA1/DQB1/DPA1/DPB1)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2420"/>
                </a:solidFill>
                <a:latin typeface="Georgia"/>
              </a:defRPr>
            </a:pPr>
            <a:r>
              <a:t>RCCX/C4 structural prototypes (exploratory)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Two lightweight, held-out-validated approaches to genotype the RCCX module (C4A/C4B copy number &amp; long/short structure) without full HLA calling:</a:t>
            </a:r>
          </a:p>
          <a:p>
            <a:pPr lvl="1">
              <a:spcAft>
                <a:spcPts val="600"/>
              </a:spcAft>
              <a:defRPr sz="1600">
                <a:solidFill>
                  <a:srgbClr val="4C5A53"/>
                </a:solidFill>
                <a:latin typeface="Calibri"/>
              </a:defRPr>
            </a:pPr>
            <a:r>
              <a:t>–  k-mer / marker-counting matched against graph paths — 106 donors (18 pilot + 88 held out)</a:t>
            </a:r>
          </a:p>
          <a:p>
            <a:pPr lvl="1">
              <a:spcAft>
                <a:spcPts val="600"/>
              </a:spcAft>
              <a:defRPr sz="1600">
                <a:solidFill>
                  <a:srgbClr val="4C5A53"/>
                </a:solidFill>
                <a:latin typeface="Calibri"/>
              </a:defRPr>
            </a:pPr>
            <a:r>
              <a:t>–  Dedicated 299-probe targeted dosage assay — benchmarked against published C4Investigator on 24 held-out donors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Both use donor-level, family-disjoint held-out splits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2420"/>
                </a:solidFill>
                <a:latin typeface="Georgia"/>
              </a:defRPr>
            </a:pPr>
            <a:r>
              <a:t>The typer in progress: PanGenie on graph bubbles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Consensus-based pipeline loses resolution (see Results) — so the real typer avoids an explicit consensus step entirely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Closer to PanGenie / SpecHLA's personalized-reference philosophy: genotype graph bubbles directly from k-mers in raw reads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1.  vg deconstruct → bubble-level VCF relative to GRCh38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2.  5 donor-disjoint, family-disjoint, population-balanced folds; "full" panel vs "HPRC-only" panel per fold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3.  PanGenie genotypes each held-out donor against both panels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Initial cohort: 40 1000 Genomes donors (20 East Asian + 20 South Asian); same donors also run through T1K and SpecHLA</a:t>
            </a:r>
          </a:p>
          <a:p>
            <a:pPr lvl="1">
              <a:spcAft>
                <a:spcPts val="600"/>
              </a:spcAft>
              <a:defRPr sz="1600">
                <a:solidFill>
                  <a:srgbClr val="4C5A53"/>
                </a:solidFill>
                <a:latin typeface="Calibri"/>
              </a:defRPr>
            </a:pPr>
            <a:r>
              <a:t>–  Status: all 120 jobs (40 donors × 4 methods) complete with verified output integrity — accuracy scoring against truth is the next step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420"/>
                </a:solidFill>
                <a:latin typeface="Georgia"/>
              </a:defRPr>
            </a:pPr>
            <a:r>
              <a:t>The MHC still comes out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1_mhc_extraction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8412480" cy="2944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2688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C5A53"/>
                </a:solidFill>
                <a:latin typeface="Calibri"/>
              </a:defRPr>
            </a:pPr>
            <a:r>
              <a:t>MHC extraction across 752 non-reference haplotypes of the enlarged, 9-stratum panel. Left: coverage of the GRCh38 MHC interval. Right: extracted segments per haplotype.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234440"/>
            <a:ext cx="2286000" cy="429768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1F6F5C"/>
                </a:solidFill>
                <a:latin typeface="Calibri"/>
              </a:defRPr>
            </a:pPr>
            <a:r>
              <a:t>747 / 752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haplotypes ≥ 0.99 coverage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720 / 752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on a single segment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Lower tail: 4 CPC + 1 JaSaPaGe-Saudi haplotypes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420"/>
                </a:solidFill>
                <a:latin typeface="Georgia"/>
              </a:defRPr>
            </a:pPr>
            <a:r>
              <a:t>Nine strata, distinct allele signatures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2_population_h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630384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62212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C5A53"/>
                </a:solidFill>
                <a:latin typeface="Calibri"/>
              </a:defRPr>
            </a:pPr>
            <a:r>
              <a:t>HLA allele landscape across 752 haplotypes, split into 9 cohorts/strata. Top: HLA-A/-B/-DRB1 frequencies. Bottom: secondary DRB, C4A/C4B forms, fraction absent from IPD-IMGT/HLA 3.55.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234440"/>
            <a:ext cx="2286000" cy="429768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1F6F5C"/>
                </a:solidFill>
                <a:latin typeface="Calibri"/>
              </a:defRPr>
            </a:pPr>
            <a:r>
              <a:t>A*11:01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29% CPC-Chinese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DRB1*12:02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16% CPC-Chinese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DRB1 gap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57–79% of copies have no full-length DB match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420"/>
                </a:solidFill>
                <a:latin typeface="Georgia"/>
              </a:defRPr>
            </a:pPr>
            <a:r>
              <a:t>Two genuine homozygotes, one duplicated assembly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3_mhc_homozygo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860472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62212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C5A53"/>
                </a:solidFill>
                <a:latin typeface="Calibri"/>
              </a:defRPr>
            </a:pPr>
            <a:r>
              <a:t>MHC homozygosity and haplotype-duplication check using 1000G read data external to the assemblies themselves.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234440"/>
            <a:ext cx="2286000" cy="429768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1F6F5C"/>
                </a:solidFill>
                <a:latin typeface="Calibri"/>
              </a:defRPr>
            </a:pPr>
            <a:r>
              <a:t>NA18976 / NA19909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&lt;100 het SNPs/100kb — genuine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NA18952 (JaSaPaGe)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same haplotype assembled twice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420"/>
                </a:solidFill>
                <a:latin typeface="Georgia"/>
              </a:defRPr>
            </a:pPr>
            <a:r>
              <a:t>One correction, one novel allele confirmed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4_novel_coding_alle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177392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62212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C5A53"/>
                </a:solidFill>
                <a:latin typeface="Calibri"/>
              </a:defRPr>
            </a:pPr>
            <a:r>
              <a:t>Candidate novel coding alleles and their read support, rechecked against IPD-IMGT/HLA 3.65.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234440"/>
            <a:ext cx="2286000" cy="429768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1F6F5C"/>
                </a:solidFill>
                <a:latin typeface="Calibri"/>
              </a:defRPr>
            </a:pPr>
            <a:r>
              <a:t>HG02717 DQB1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resolved: DQB1*02:180:02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NA20346 DPA1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still novel, 24/51 reads support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420"/>
                </a:solidFill>
                <a:latin typeface="Georgia"/>
              </a:defRPr>
            </a:pPr>
            <a:r>
              <a:t>Graph-consensus vs direct-read typer: internal concordance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5_gc_overall_concor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44652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62212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C5A53"/>
                </a:solidFill>
                <a:latin typeface="Calibri"/>
              </a:defRPr>
            </a:pPr>
            <a:r>
              <a:t>Pairwise typing concordance between the graph-consensus pipeline (Immuannot, 2 DB versions) and T1K (2 independent runs), pooled over 9 classical genes.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234440"/>
            <a:ext cx="2286000" cy="429768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1F6F5C"/>
                </a:solidFill>
                <a:latin typeface="Calibri"/>
              </a:defRPr>
            </a:pPr>
            <a:r>
              <a:t>Immuannot old vs new DB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91% (1-field) / 89% (2-field)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T1K vs Immuannot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only 49–50% at 2-field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DRB1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10–25% in every comparison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420"/>
                </a:solidFill>
                <a:latin typeface="Georgia"/>
              </a:defRPr>
            </a:pPr>
            <a:r>
              <a:t>Same accuracy, far less resolution — the key finding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6_gc_truth_concor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20776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62212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C5A53"/>
                </a:solidFill>
                <a:latin typeface="Calibri"/>
              </a:defRPr>
            </a:pPr>
            <a:r>
              <a:t>Genotype concordance against real published truth (Gourraud et al. 2014, 2-field, 5 classical genes).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234440"/>
            <a:ext cx="2286000" cy="429768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1F6F5C"/>
                </a:solidFill>
                <a:latin typeface="Calibri"/>
              </a:defRPr>
            </a:pPr>
            <a:r>
              <a:t>Accuracy tied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98.8% T1K vs 98.5% graph-consensus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Resolution gap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T1K 90% vs graph-consensus 33%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→ motivates PanGenie bubble typer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2420"/>
                </a:solidFill>
                <a:latin typeface="Georgia"/>
              </a:defRPr>
            </a:pPr>
            <a:r>
              <a:t>RCCX/C4 prototypes: an honest negative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Marker-counting prototype: recovered RCCX gene content trivially (106/106) but only 38–64/106 full structural-signature pairs correctly</a:t>
            </a:r>
          </a:p>
          <a:p>
            <a:pPr lvl="1">
              <a:spcAft>
                <a:spcPts val="600"/>
              </a:spcAft>
              <a:defRPr sz="1600">
                <a:solidFill>
                  <a:srgbClr val="4C5A53"/>
                </a:solidFill>
                <a:latin typeface="Calibri"/>
              </a:defRPr>
            </a:pPr>
            <a:r>
              <a:t>–  Calibrated plain read depth tied its best copy-number variant — no graph-specific benefit established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Targeted 299-probe assay: matched but did not beat a plain-depth baseline on total C4 dosage (24/24 both)</a:t>
            </a:r>
          </a:p>
          <a:p>
            <a:pPr lvl="1">
              <a:spcAft>
                <a:spcPts val="600"/>
              </a:spcAft>
              <a:defRPr sz="1600">
                <a:solidFill>
                  <a:srgbClr val="4C5A53"/>
                </a:solidFill>
                <a:latin typeface="Calibri"/>
              </a:defRPr>
            </a:pPr>
            <a:r>
              <a:t>–  21/24 on full RCCX structural pairs — slightly worse than a pre-existing simpler method (22/24)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Reported as a genuine, disclosed negative result: RCCX/C4 structure is genuinely hard to call from short reads regardless of method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420"/>
                </a:solidFill>
                <a:latin typeface="Georgia"/>
              </a:defRPr>
            </a:pPr>
            <a:r>
              <a:t>Classical calls remain concordant at the enlarged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7_typing_concor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8412480" cy="24302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754712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C5A53"/>
                </a:solidFill>
                <a:latin typeface="Calibri"/>
              </a:defRPr>
            </a:pPr>
            <a:r>
              <a:t>Typing concordance between FuFiHLA, Immuannot and T1K on the same assembled individuals, at 1–4 field resolution.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234440"/>
            <a:ext cx="2286000" cy="429768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1F6F5C"/>
                </a:solidFill>
                <a:latin typeface="Calibri"/>
              </a:defRPr>
            </a:pPr>
            <a:r>
              <a:t>vs Gourraud 2014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62–64/64 A,B; 58–59/63 C,DRB1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FuFiHLA vs Immuannot</a:t>
            </a:r>
          </a:p>
          <a:p>
            <a:pPr algn="ctr">
              <a:spcAft>
                <a:spcPts val="1000"/>
              </a:spcAft>
              <a:defRPr sz="1300" b="1">
                <a:solidFill>
                  <a:srgbClr val="1A2420"/>
                </a:solidFill>
                <a:latin typeface="Calibri"/>
              </a:defRPr>
            </a:pPr>
            <a:r>
              <a:t>92–100% 2-field, n=373–376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2420"/>
                </a:solidFill>
                <a:latin typeface="Georgia"/>
              </a:defRPr>
            </a:pPr>
            <a:r>
              <a:t>PanGenie typer: infrastructure complete, scoring pending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5 folds × {full, HPRC-only} bubble-level reference panels — built and verified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40-donor call generation (T1K, SpecHLA, PanGenie-full, PanGenie-HPRC-only): all 120 jobs finished successfully</a:t>
            </a:r>
          </a:p>
          <a:p>
            <a:pPr lvl="1">
              <a:spcAft>
                <a:spcPts val="600"/>
              </a:spcAft>
              <a:defRPr sz="1600">
                <a:solidFill>
                  <a:srgbClr val="4C5A53"/>
                </a:solidFill>
                <a:latin typeface="Calibri"/>
              </a:defRPr>
            </a:pPr>
            <a:r>
              <a:t>–  3,250,704 VCF records (full-panel PanGenie) vs 3,504,632 (HPRC-only) — integrity verified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Accuracy scoring against truth has not been run yet — explicit next step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One completed sub-analysis (structural signature representation): full panel and HPRC-only panel represent the same RCCX/DRB classes for this initial 40-donor cohort</a:t>
            </a:r>
          </a:p>
          <a:p>
            <a:pPr lvl="1">
              <a:spcAft>
                <a:spcPts val="600"/>
              </a:spcAft>
              <a:defRPr sz="1600">
                <a:solidFill>
                  <a:srgbClr val="4C5A53"/>
                </a:solidFill>
                <a:latin typeface="Calibri"/>
              </a:defRPr>
            </a:pPr>
            <a:r>
              <a:t>–  Does not mean the Asian-specific haplotypes are uninformative — accuracy scoring, not representation counting, is the real test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Discussion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2420"/>
                </a:solidFill>
                <a:latin typeface="Georgia"/>
              </a:defRPr>
            </a:pPr>
            <a:r>
              <a:t>What's real and usable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An Asian- and Arab-enriched HLA haplotype panel that has tripled its non-HPRC diversity in one week: 754 haplotypes, 9 population strata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A whole-MHC Minigraph-Cactus graph built from that panel, with validated short-read mapping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A rigorous demonstration of why the obvious first approach — align, call, phase, consensus, annotate — does not beat T1K on accuracy, and specifically loses resolution at the paralog-rich loci (DRB1 above all) that most need a better reference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That negative result is not a detour — it is what redirected the typer toward genotyping graph bubbles directly with PanGenie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2420"/>
                </a:solidFill>
                <a:latin typeface="Georgia"/>
              </a:defRPr>
            </a:pPr>
            <a:r>
              <a:t>Immediate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1.  Finish accuracy scoring: 40-donor PanGenie/T1K/SpecHLA comparison, full panel vs HPRC-only, against Gourraud 2014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2.  Extend the benchmark cohort to the Arabian stratum once data access allows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3.  Add HLA*LA and the long-read SpecImmune/HLAminer arm from the study plan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4.  Investigate whether K-PanRef/CPC's graph-derived haplotypes constrain the bubble panel less than expected</a:t>
            </a:r>
          </a:p>
          <a:p>
            <a:pPr>
              <a:spcAft>
                <a:spcPts val="1200"/>
              </a:spcAft>
              <a:defRPr sz="1800">
                <a:solidFill>
                  <a:srgbClr val="1A2420"/>
                </a:solidFill>
                <a:latin typeface="Calibri"/>
              </a:defRPr>
            </a:pPr>
            <a:r>
              <a:t>•  5.  Revisit HLA-DRB1 phasing specifically — worst-performing locus in every comparison, including database-version-only checks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5C"/>
                </a:solidFill>
                <a:latin typeface="Calibri"/>
              </a:defRPr>
            </a:pPr>
            <a:r>
              <a:rPr spc="150"/>
              <a:t>ACKNOWLEDGEMENTS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2420"/>
                </a:solidFill>
                <a:latin typeface="Georgia"/>
              </a:defRPr>
            </a:pPr>
            <a:r>
              <a:t>Thanks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22960" cy="508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A2420"/>
                </a:solidFill>
                <a:latin typeface="Calibri"/>
              </a:defRPr>
            </a:pPr>
            <a:r>
              <a:t>•  DBCLS BioHackathon Japan 2026 organisers, and the NIG supercomputer BioHackathon node for compute access</a:t>
            </a:r>
          </a:p>
          <a:p>
            <a:pPr>
              <a:spcAft>
                <a:spcPts val="1200"/>
              </a:spcAft>
              <a:defRPr sz="1700">
                <a:solidFill>
                  <a:srgbClr val="1A2420"/>
                </a:solidFill>
                <a:latin typeface="Calibri"/>
              </a:defRPr>
            </a:pPr>
            <a:r>
              <a:t>•  Arab Pangenome Reference (MBRU), K-PanRef, CPC, HPRC and JaSaPaGe project teams for assemblies and pangenome graphs</a:t>
            </a:r>
          </a:p>
          <a:p>
            <a:pPr>
              <a:spcAft>
                <a:spcPts val="1200"/>
              </a:spcAft>
              <a:defRPr sz="1700">
                <a:solidFill>
                  <a:srgbClr val="1A2420"/>
                </a:solidFill>
                <a:latin typeface="Calibri"/>
              </a:defRPr>
            </a:pPr>
            <a:r>
              <a:t>•  pgr-tk, Immuannot, pggb, odgi, minimap2, Cactus/Minigraph-Cactus, vg/Giraffe, WhatsHap, PanGenie, T1K, C4Investigator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github.com/biohackathon-japan/BH26-asian-hla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1851</Words>
  <Application>Microsoft Macintosh PowerPoint</Application>
  <PresentationFormat>Widescreen</PresentationFormat>
  <Paragraphs>201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Hassan Sibroe Daanaa</cp:lastModifiedBy>
  <cp:revision>1</cp:revision>
  <dcterms:created xsi:type="dcterms:W3CDTF">2013-01-27T09:14:16Z</dcterms:created>
  <dcterms:modified xsi:type="dcterms:W3CDTF">2026-09-18T04:06:02Z</dcterms:modified>
  <cp:category/>
</cp:coreProperties>
</file>